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Presence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điểm danh tự động sử dụng IoT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1828800" cy="2743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Môn: Vạn Vật Kế Nối (INOT231780)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GVHD: ThS. Đinh Công Đoan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22810009  Nguyễn Kim Hưng — Giao diện web, Cloud, Thiết kế hệ thống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22810010  Đào Đức Khải — Thiết bị, Firmware, Phần cứng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24810113  Phan Trương Đình Khánh — Kết nối serial, Kiểm thử, Tài liệu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thực tế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C0544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danh bằng gọi tên: mất ~5 phút mỗi lớp 40 người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điểm danh hộ bạn vắng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không biết ai đến trễ cho đến khi kiểm tra lại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ghi giấy, khó thống kê cuối kỳ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109728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07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QUẢ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173736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Lãng phí thời gian giảng dạy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lệ gian lận cao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cảnh báo sớm cho sinh viên sắp thiếu điều kiện dự thi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&amp; So sánh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quẹt thẻ RFID → thiết bị tự ghi nhận → gửi lên cloud → giảng viên xem trên web ngay lập tức.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463040"/>
                <a:gridCol w="18288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Phương pháp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 phí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Tốc độ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Chống gian lận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Xem tức thì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Gọi tên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Thấp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Chậm (~5 phút)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Kém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Thấp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Nhanh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Kém (dễ chia sẻ)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Nhận diện khuôn mặt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Nhanh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RFID (đề xuất)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~20k/thẻ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 giây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Tốt (thẻ vật lý)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tổng thể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73152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87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4: ỨNG DỤNG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cho giảng viên: biểu đồ, sơ đồ ghế, bật/tắt thiết bị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3: XỬ LÝ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 lưu dữ liệu, đăng nhập Google, thông báo tức thì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73152" cy="7772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2: MẠNG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nối: dây serial + chương trình trung gian + internet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94760"/>
            <a:ext cx="73152" cy="777240"/>
          </a:xfrm>
          <a:prstGeom prst="rect">
            <a:avLst/>
          </a:prstGeom>
          <a:solidFill>
            <a:srgbClr val="3D8B5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67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1: CẢM NHẬN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bị: Raspberry Pi + đầu đọc + màn hình + đèn + loa</a:t>
            </a:r>
            <a:endParaRPr lang="en-US" sz="1000" dirty="0"/>
          </a:p>
        </p:txBody>
      </p:sp>
      <p:pic>
        <p:nvPicPr>
          <p:cNvPr id="22" name="Image 0" descr="/Users/hungnguyen/Workspace/me/class-presence/docs/slides/diagram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868680"/>
            <a:ext cx="43891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điểm danh</a:t>
            </a:r>
            <a:endParaRPr lang="en-US" sz="1800" dirty="0"/>
          </a:p>
        </p:txBody>
      </p:sp>
      <p:pic>
        <p:nvPicPr>
          <p:cNvPr id="6" name="Image 0" descr="/Users/hungnguyen/Workspace/me/class-presence/docs/slides/diagrams/checkin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Dưới 1 giây từ quẹt thẻ → web cập nhật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điều khiển thiết bị</a:t>
            </a:r>
            <a:endParaRPr lang="en-US" sz="1800" dirty="0"/>
          </a:p>
        </p:txBody>
      </p:sp>
      <p:pic>
        <p:nvPicPr>
          <p:cNvPr id="6" name="Image 0" descr="/Users/hungnguyen/Workspace/me/class-presence/docs/slides/diagrams/control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Trạng thái lệnh: Đang chờ → Đã gửi → Đã thực thi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mạch Proteus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0584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Ký hiệu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Linh kiện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Chức năng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Raspberry Pi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Bộ xử lý chính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LCD1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Màn hình LCD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Hiển thị trạng thái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Đầu đọc RFID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Đọc thẻ sinh viên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BUZ1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 báo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Âm thanh phản hồi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Đèn xanh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Thẻ hợp lệ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Đèn đỏ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Thẻ không hợp lệ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Nút bắt đầu quét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Kích hoạt chế độ quét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Nút xem số lượng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Hiển thị số check-in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Bộ điều khiển motor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Điều khiển cửa tự động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kết nối linh kiện</a:t>
            </a:r>
            <a:endParaRPr lang="en-US" sz="1800" dirty="0"/>
          </a:p>
        </p:txBody>
      </p:sp>
      <p:pic>
        <p:nvPicPr>
          <p:cNvPr id="6" name="Image 0" descr="/Users/hungnguyen/Workspace/me/class-presence/docs/slides/diagrams/connec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Hub-spoke: Raspberry Pi ở trung tâm, linh kiện xếp xung quanh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thiết bị từng bước</a:t>
            </a:r>
            <a:endParaRPr lang="en-US" sz="1800" dirty="0"/>
          </a:p>
        </p:txBody>
      </p:sp>
      <p:pic>
        <p:nvPicPr>
          <p:cNvPr id="6" name="Image 0" descr="/Users/hungnguyen/Workspace/me/class-presence/docs/slides/diagrams/device-ste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trình trung gian (Serial Bridge)</a:t>
            </a:r>
            <a:endParaRPr lang="en-US" sz="1800" dirty="0"/>
          </a:p>
        </p:txBody>
      </p:sp>
      <p:pic>
        <p:nvPicPr>
          <p:cNvPr id="6" name="Image 0" descr="/Users/hungnguyen/Workspace/me/class-presence/docs/slides/diagrams/brid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02920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868680"/>
            <a:ext cx="32918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chính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60720" y="141732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Nhận check-in → gửi lên cloud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Nhận tín hiệu "còn sống" → báo cloud thiết bị đang hoạt động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Kiểm tra cloud mỗi 3s → nếu có lệnh mới → chuyển cho thiết bị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Mất mạng → lưu tạm → có mạng lại thì gửi hết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cơ sở dữ liệu</a:t>
            </a:r>
            <a:endParaRPr lang="en-US" sz="1800" dirty="0"/>
          </a:p>
        </p:txBody>
      </p:sp>
      <p:pic>
        <p:nvPicPr>
          <p:cNvPr id="6" name="Image 0" descr="/Users/hungnguyen/Workspace/me/class-presence/docs/slides/diagrams/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7 bảng — tất cả dùng tiền tố cp_, UUID làm khóa chính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 dữ liệu</a:t>
            </a:r>
            <a:endParaRPr lang="en-US" sz="1800" dirty="0"/>
          </a:p>
        </p:txBody>
      </p:sp>
      <p:pic>
        <p:nvPicPr>
          <p:cNvPr id="6" name="Image 0" descr="/Users/hungnguyen/Workspace/me/class-presence/docs/slides/diagrams/secur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02920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868680"/>
            <a:ext cx="32918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(qua web)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1325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D8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Xem tất cả dữ liệu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D8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Gửi lệnh cho thiết bị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0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Không thể sửa điểm danh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(có khóa bí mật)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6072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D8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Ghi điểm danh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D8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Cập nhật trạng thái thiết bị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4069080"/>
            <a:ext cx="73152" cy="7315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114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bridge mới ghi được điểm danh → ngay cả khi lộ mật khẩu web, không ai giả mạo được điểm danh.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đăng nhập &amp; Danh sách lớp</a:t>
            </a:r>
            <a:endParaRPr lang="en-US" sz="1800" dirty="0"/>
          </a:p>
        </p:txBody>
      </p:sp>
      <p:pic>
        <p:nvPicPr>
          <p:cNvPr id="6" name="Image 0" descr="/Users/hungnguyen/Workspace/me/class-presence/docs/slides/screenshots/clas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6692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86868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00584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bằng tài khoản Google (1 click)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trang khác đều yêu cầu đăng nhập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danh sách lớp học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mã lớp, môn, phòng, số sinh viên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chính</a:t>
            </a:r>
            <a:endParaRPr lang="en-US" sz="1800" dirty="0"/>
          </a:p>
        </p:txBody>
      </p:sp>
      <p:pic>
        <p:nvPicPr>
          <p:cNvPr id="6" name="Image 0" descr="/Users/hungnguyen/Workspace/me/class-presence/docs/slides/screenshot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6692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86868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00584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lớp hiện tại — lớp đang diễn ra hoặc tiếp theo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lịch học hôm nay — timeline các buổi học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thẻ thống kê — buổi học, điểm danh, chuyên cần, thiết bị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đường — xu hướng chuyên cần theo tuần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tròn — tỷ lệ đúng giờ / trễ / vắng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cột — so sánh chuyên cần giữa các lớp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thiết bị — trạng thái online/offline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điểm danh lớp</a:t>
            </a:r>
            <a:endParaRPr lang="en-US" sz="1800" dirty="0"/>
          </a:p>
        </p:txBody>
      </p:sp>
      <p:pic>
        <p:nvPicPr>
          <p:cNvPr id="6" name="Image 0" descr="/Users/hungnguyen/Workspace/me/class-presence/docs/slides/screenshots/class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6692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86868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00584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thẻ thống kê — tổng SV, đúng giờ, trễ, vắng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điểm danh — MSSV, họ tên, giờ đến, ghế, nhãn màu (realtime)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lệ chuyên cần — cảnh báo nếu dưới 80%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ghế ngồi — lưới 3×5, tô màu theo trạng thái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khóa biểu</a:t>
            </a:r>
            <a:endParaRPr lang="en-US" sz="1800" dirty="0"/>
          </a:p>
        </p:txBody>
      </p:sp>
      <p:pic>
        <p:nvPicPr>
          <p:cNvPr id="6" name="Image 0" descr="/Users/hungnguyen/Workspace/me/class-presence/docs/slides/screenshots/sched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6692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86868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00584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thẻ thống kê: hôm nay, tuần này, tổng giờ, số môn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Lưới thời gian 07:00–17:00, Thứ 2–Thứ 7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xem Tuần / Ngày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vàng đánh dấu ngày và giờ hiện tại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ô: giờ, tên môn, mã lớp, phòng, sĩ số — tô màu theo môn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thiết bị</a:t>
            </a:r>
            <a:endParaRPr lang="en-US" sz="1800" dirty="0"/>
          </a:p>
        </p:txBody>
      </p:sp>
      <p:pic>
        <p:nvPicPr>
          <p:cNvPr id="6" name="Image 0" descr="/Users/hungnguyen/Workspace/me/class-presence/docs/slides/screenshots/devi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6692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86868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00584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tổng hợp: tổng / online / offline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Lưới thẻ thiết bị: mã, ID, phòng, firmware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/ lọc theo mã, phòng, mô tả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Nút bật / tắt → gửi lệnh cho thiết bị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Sửa mô tả thiết bị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Trạng thái tự cập nhật realtime — thẻ nhấp nháy vàng 2s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tuần tự: Quẹt thẻ đến Web cập nhật</a:t>
            </a:r>
            <a:endParaRPr lang="en-US" sz="1800" dirty="0"/>
          </a:p>
        </p:txBody>
      </p:sp>
      <p:pic>
        <p:nvPicPr>
          <p:cNvPr id="6" name="Image 0" descr="/Users/hungnguyen/Workspace/me/class-presence/docs/slides/diagrams/sequ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Dưới 1 giây từ quẹt thẻ → web cập nhật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hợp tính năng &amp; CLO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(6 tính năng)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Đăng nhập Google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Dashboard: lớp hiện tại, lịch hôm nay, 4 thẻ thống kê, 3 biểu đồ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Danh sách lớp + chi tiết điểm danh + sơ đồ ghế ngồi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Thời khóa biểu tuần/ngày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Bật/tắt thiết bị từ xa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Cập nhật dữ liệu thời gian thực (Realtime)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868680"/>
            <a:ext cx="3931920" cy="320040"/>
          </a:xfrm>
          <a:prstGeom prst="rect">
            <a:avLst/>
          </a:prstGeom>
          <a:solidFill>
            <a:srgbClr val="3D8B5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BỊ (7 tính năng)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Check-in bằng thẻ RFID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Đèn xanh/đỏ + loa báo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Check-in và check-out (tính giờ tham gia)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Đếm số lượng trên màn hình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Mở cửa tự động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Gửi tín hiệu "còn sống" mỗi 30 giây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Lưu tạm khi mất mạng, tự gửi lại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4572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Yêu cầu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Đồ án đáp ứng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Kiến trúc, giao thức IoT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tầng IoT, serial + internet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Thiết kế sơ đồ khối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Kiến trúc, mạch, kết nối, CSDL, tuần tự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Làm việc nhóm, thuyết trình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thành viên, demo trực tiếp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Phần cứng + phần mềm IoT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Mạch Proteus + web + bridge + cloud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trực tiếp &amp; Hỏi đáp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(~3 PHÚT)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234440" cy="1005840"/>
          </a:xfrm>
          <a:prstGeom prst="rect">
            <a:avLst/>
          </a:prstGeom>
          <a:solidFill>
            <a:srgbClr val="3A5068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18872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web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bị "Đã tắt"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234440"/>
            <a:ext cx="1234440" cy="1005840"/>
          </a:xfrm>
          <a:prstGeom prst="rect">
            <a:avLst/>
          </a:prstGeom>
          <a:solidFill>
            <a:srgbClr val="3A5068"/>
          </a:solidFill>
          <a:ln/>
        </p:spPr>
      </p:sp>
      <p:sp>
        <p:nvSpPr>
          <p:cNvPr id="10" name="Shape 8"/>
          <p:cNvSpPr/>
          <p:nvPr/>
        </p:nvSpPr>
        <p:spPr>
          <a:xfrm>
            <a:off x="1847088" y="118872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184708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01952" y="1508760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Bật Proteus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→ "Online"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1234440" cy="1005840"/>
          </a:xfrm>
          <a:prstGeom prst="rect">
            <a:avLst/>
          </a:prstGeom>
          <a:solidFill>
            <a:srgbClr val="3A506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18688" y="118872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3552" y="1508760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Quẹt 2 thẻ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cập nhật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234440"/>
            <a:ext cx="1234440" cy="1005840"/>
          </a:xfrm>
          <a:prstGeom prst="rect">
            <a:avLst/>
          </a:prstGeom>
          <a:solidFill>
            <a:srgbClr val="3A506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90288" y="118872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459028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5152" y="1508760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Quẹt thẻ sai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đèn đỏ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1234440"/>
            <a:ext cx="1234440" cy="1005840"/>
          </a:xfrm>
          <a:prstGeom prst="rect">
            <a:avLst/>
          </a:prstGeom>
          <a:solidFill>
            <a:srgbClr val="3A5068"/>
          </a:solidFill>
          <a:ln/>
        </p:spPr>
      </p:sp>
      <p:sp>
        <p:nvSpPr>
          <p:cNvPr id="22" name="Shape 20"/>
          <p:cNvSpPr/>
          <p:nvPr/>
        </p:nvSpPr>
        <p:spPr>
          <a:xfrm>
            <a:off x="5961888" y="118872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596188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16752" y="1508760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Nhấn "Tắt"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bị ngừng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0" y="1234440"/>
            <a:ext cx="1234440" cy="1005840"/>
          </a:xfrm>
          <a:prstGeom prst="rect">
            <a:avLst/>
          </a:prstGeom>
          <a:solidFill>
            <a:srgbClr val="3A5068"/>
          </a:solidFill>
          <a:ln/>
        </p:spPr>
      </p:sp>
      <p:sp>
        <p:nvSpPr>
          <p:cNvPr id="26" name="Shape 24"/>
          <p:cNvSpPr/>
          <p:nvPr/>
        </p:nvSpPr>
        <p:spPr>
          <a:xfrm>
            <a:off x="7333488" y="118872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7" name="Text 25"/>
          <p:cNvSpPr/>
          <p:nvPr/>
        </p:nvSpPr>
        <p:spPr>
          <a:xfrm>
            <a:off x="733348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88352" y="1508760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hiện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"Đã tắt"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án dự phòng: video đã quay sẵn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ĐÁP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8229600" cy="384048"/>
          </a:xfrm>
          <a:prstGeom prst="rect">
            <a:avLst/>
          </a:prstGeom>
          <a:solidFill>
            <a:srgbClr val="3A506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2004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"Sao không dùng MQTT?"</a:t>
            </a:r>
            <a:pPr indent="0" marL="0">
              <a:buNone/>
            </a:pPr>
            <a:r>
              <a:rPr lang="en-US" sz="10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HTTPS đơn giản hơn cho 1 thiết bị. MQTT phù hợp khi có hàng trăm thiết bị.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384048"/>
          </a:xfrm>
          <a:prstGeom prst="rect">
            <a:avLst/>
          </a:prstGeom>
          <a:solidFill>
            <a:srgbClr val="3A5068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657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"Bảo mật thẻ?"</a:t>
            </a:r>
            <a:pPr indent="0" marL="0">
              <a:buNone/>
            </a:pPr>
            <a:r>
              <a:rPr lang="en-US" sz="10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Demo dùng mã đơn giản. Thực tế dùng thẻ MIFARE có mã hóa.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3A506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1148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"Mất mạng?"</a:t>
            </a:r>
            <a:pPr indent="0" marL="0">
              <a:buNone/>
            </a:pPr>
            <a:r>
              <a:rPr lang="en-US" sz="10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Thiết bị lưu tạm, tự gửi lại khi có mạng.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3A5068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572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"Nhiều thiết bị?"</a:t>
            </a:r>
            <a:pPr indent="0" marL="0">
              <a:buNone/>
            </a:pPr>
            <a:r>
              <a:rPr lang="en-US" sz="1000" dirty="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Được, mỗi thiết bị có mã riêng.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Presence: Hệ thống điểm danh tự động sử dụng IoT</dc:title>
  <dc:subject>PptxGenJS Presentation</dc:subject>
  <dc:creator>Nhóm 10</dc:creator>
  <cp:lastModifiedBy>Nhóm 10</cp:lastModifiedBy>
  <cp:revision>1</cp:revision>
  <dcterms:created xsi:type="dcterms:W3CDTF">2026-03-20T15:00:41Z</dcterms:created>
  <dcterms:modified xsi:type="dcterms:W3CDTF">2026-03-20T15:00:41Z</dcterms:modified>
</cp:coreProperties>
</file>